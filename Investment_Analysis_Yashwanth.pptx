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90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32147"/>
          </a:solidFill>
          <a:ln w="12700">
            <a:solidFill>
              <a:srgbClr val="132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2A3F70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200400"/>
            <a:ext cx="1645920" cy="1645920"/>
          </a:xfrm>
          <a:prstGeom prst="ellipse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02920"/>
            <a:ext cx="411480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029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 ·  COGNIFYZ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 ·  Cognifyz Technologies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347472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931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Yashwanth M 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731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94944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94944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34747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94944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Set Out to Discover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69080" cy="1508760"/>
          </a:xfrm>
          <a:prstGeom prst="rect">
            <a:avLst/>
          </a:prstGeom>
          <a:solidFill>
            <a:srgbClr val="1C2E5E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6400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73352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73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61872" y="16459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individuals make investment decisions and what drives their choices.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4069080" cy="1508760"/>
          </a:xfrm>
          <a:prstGeom prst="rect">
            <a:avLst/>
          </a:prstGeom>
          <a:solidFill>
            <a:srgbClr val="1C2E5E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08760"/>
            <a:ext cx="6400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673352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673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59552" y="16459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Avenues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1305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selected investment options across 40 survey respondents.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069080" cy="1508760"/>
          </a:xfrm>
          <a:prstGeom prst="rect">
            <a:avLst/>
          </a:prstGeom>
          <a:solidFill>
            <a:srgbClr val="1C2E5E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00400"/>
            <a:ext cx="6400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364992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64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61872" y="33375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vs Return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382219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mismatch between risk tolerance and return expectations.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3200400"/>
            <a:ext cx="4069080" cy="1508760"/>
          </a:xfrm>
          <a:prstGeom prst="rect">
            <a:avLst/>
          </a:prstGeom>
          <a:solidFill>
            <a:srgbClr val="1C2E5E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200400"/>
            <a:ext cx="6400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3364992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364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59552" y="33375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Influencers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37760" y="382219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what factors — advisors, media, objectives — shape financial choices.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 Data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1463040"/>
          </a:xfrm>
          <a:prstGeom prst="rect">
            <a:avLst/>
          </a:prstGeom>
          <a:solidFill>
            <a:srgbClr val="1C2E5E"/>
          </a:solidFill>
          <a:ln w="2540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57276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267004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606040" cy="1463040"/>
          </a:xfrm>
          <a:prstGeom prst="rect">
            <a:avLst/>
          </a:prstGeom>
          <a:solidFill>
            <a:srgbClr val="1C2E5E"/>
          </a:solidFill>
          <a:ln w="2540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572768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3291840" y="267004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1463040"/>
            <a:ext cx="2606040" cy="1463040"/>
          </a:xfrm>
          <a:prstGeom prst="rect">
            <a:avLst/>
          </a:prstGeom>
          <a:solidFill>
            <a:srgbClr val="1C2E5E"/>
          </a:solidFill>
          <a:ln w="2540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572768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26480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1"/>
          <p:cNvSpPr/>
          <p:nvPr/>
        </p:nvSpPr>
        <p:spPr>
          <a:xfrm>
            <a:off x="6126480" y="267004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7200" y="3127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 Include: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3547872"/>
            <a:ext cx="4069080" cy="548640"/>
          </a:xfrm>
          <a:prstGeom prst="rect">
            <a:avLst/>
          </a:prstGeom>
          <a:solidFill>
            <a:srgbClr val="1E2D56"/>
          </a:solidFill>
          <a:ln w="12700">
            <a:solidFill>
              <a:srgbClr val="2A3F7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57200" y="3547872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35844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" y="38221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· Age · Income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3547872"/>
            <a:ext cx="4069080" cy="548640"/>
          </a:xfrm>
          <a:prstGeom prst="rect">
            <a:avLst/>
          </a:prstGeom>
          <a:solidFill>
            <a:srgbClr val="1E2D56"/>
          </a:solidFill>
          <a:ln w="12700">
            <a:solidFill>
              <a:srgbClr val="2A3F7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547872"/>
            <a:ext cx="54864" cy="548640"/>
          </a:xfrm>
          <a:prstGeom prst="rect">
            <a:avLst/>
          </a:prstGeom>
          <a:solidFill>
            <a:srgbClr val="E8C96D"/>
          </a:solidFill>
          <a:ln w="12700">
            <a:solidFill>
              <a:srgbClr val="E8C96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937760" y="35844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Options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937760" y="38221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 · Equity · Debentures · Bonds · FD · PPF · Gold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57200" y="4206240"/>
            <a:ext cx="4069080" cy="548640"/>
          </a:xfrm>
          <a:prstGeom prst="rect">
            <a:avLst/>
          </a:prstGeom>
          <a:solidFill>
            <a:srgbClr val="1E2D56"/>
          </a:solidFill>
          <a:ln w="12700">
            <a:solidFill>
              <a:srgbClr val="2A3F7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" y="4206240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40080" y="4242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40080" y="44805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· Reasons · Source of Info · Expectations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754880" y="4206240"/>
            <a:ext cx="4069080" cy="548640"/>
          </a:xfrm>
          <a:prstGeom prst="rect">
            <a:avLst/>
          </a:prstGeom>
          <a:solidFill>
            <a:srgbClr val="1E2D56"/>
          </a:solidFill>
          <a:ln w="12700">
            <a:solidFill>
              <a:srgbClr val="2A3F7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754880" y="4206240"/>
            <a:ext cx="54864" cy="548640"/>
          </a:xfrm>
          <a:prstGeom prst="rect">
            <a:avLst/>
          </a:prstGeom>
          <a:solidFill>
            <a:srgbClr val="E8C96D"/>
          </a:solidFill>
          <a:ln w="12700">
            <a:solidFill>
              <a:srgbClr val="E8C96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937760" y="4242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937760" y="44805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· Healthcare · Education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1572768" cy="3246120"/>
          </a:xfrm>
          <a:prstGeom prst="rect">
            <a:avLst/>
          </a:prstGeom>
          <a:solidFill>
            <a:srgbClr val="1C2E5E"/>
          </a:solidFill>
          <a:ln w="2540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81328"/>
            <a:ext cx="157276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664208"/>
            <a:ext cx="594360" cy="5943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0992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235915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0352" y="2724912"/>
            <a:ext cx="1207008" cy="201168"/>
          </a:xfrm>
          <a:prstGeom prst="rect">
            <a:avLst/>
          </a:prstGeom>
          <a:solidFill>
            <a:srgbClr val="1E2D56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2724912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38912" y="3035808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data analysis and scripting.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57400" y="1481328"/>
            <a:ext cx="1572768" cy="3246120"/>
          </a:xfrm>
          <a:prstGeom prst="rect">
            <a:avLst/>
          </a:prstGeom>
          <a:solidFill>
            <a:srgbClr val="1C2E5E"/>
          </a:solidFill>
          <a:ln w="12700">
            <a:solidFill>
              <a:srgbClr val="2A3F7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57400" y="1481328"/>
            <a:ext cx="157276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64208"/>
            <a:ext cx="594360" cy="5943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709928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57400" y="235915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2240280" y="2724912"/>
            <a:ext cx="1207008" cy="201168"/>
          </a:xfrm>
          <a:prstGeom prst="rect">
            <a:avLst/>
          </a:prstGeom>
          <a:solidFill>
            <a:srgbClr val="1E2D56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240280" y="2724912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2148840" y="3035808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— loading CSV, selecting columns, aggregation.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767328" y="1481328"/>
            <a:ext cx="1572768" cy="3246120"/>
          </a:xfrm>
          <a:prstGeom prst="rect">
            <a:avLst/>
          </a:prstGeom>
          <a:solidFill>
            <a:srgbClr val="1C2E5E"/>
          </a:solidFill>
          <a:ln w="12700">
            <a:solidFill>
              <a:srgbClr val="2A3F7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767328" y="1481328"/>
            <a:ext cx="157276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270248" y="1664208"/>
            <a:ext cx="594360" cy="5943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1709928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767328" y="235915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3950208" y="2724912"/>
            <a:ext cx="1207008" cy="201168"/>
          </a:xfrm>
          <a:prstGeom prst="rect">
            <a:avLst/>
          </a:prstGeom>
          <a:solidFill>
            <a:srgbClr val="1E2D56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950208" y="2724912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3858768" y="3035808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bar charts for gender, investment preference and duration.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477256" y="1481328"/>
            <a:ext cx="1572768" cy="3246120"/>
          </a:xfrm>
          <a:prstGeom prst="rect">
            <a:avLst/>
          </a:prstGeom>
          <a:solidFill>
            <a:srgbClr val="1C2E5E"/>
          </a:solidFill>
          <a:ln w="12700">
            <a:solidFill>
              <a:srgbClr val="2A3F7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77256" y="1481328"/>
            <a:ext cx="157276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980176" y="1664208"/>
            <a:ext cx="594360" cy="5943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5896" y="1709928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477256" y="235915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Seaborn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5660136" y="2724912"/>
            <a:ext cx="1207008" cy="201168"/>
          </a:xfrm>
          <a:prstGeom prst="rect">
            <a:avLst/>
          </a:prstGeom>
          <a:solidFill>
            <a:srgbClr val="1E2D56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660136" y="2724912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Plots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5568696" y="3035808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heatmap and styled count plots with coolwarm palette.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7187184" y="1481328"/>
            <a:ext cx="1572768" cy="3246120"/>
          </a:xfrm>
          <a:prstGeom prst="rect">
            <a:avLst/>
          </a:prstGeom>
          <a:solidFill>
            <a:srgbClr val="1C2E5E"/>
          </a:solidFill>
          <a:ln w="12700">
            <a:solidFill>
              <a:srgbClr val="2A3F7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187184" y="1481328"/>
            <a:ext cx="157276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690104" y="1664208"/>
            <a:ext cx="594360" cy="5943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4" y="1709928"/>
            <a:ext cx="502920" cy="5029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187184" y="235915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</a:t>
            </a:r>
            <a:endParaRPr lang="en-US" sz="1600" dirty="0"/>
          </a:p>
        </p:txBody>
      </p:sp>
      <p:sp>
        <p:nvSpPr>
          <p:cNvPr id="42" name="Shape 35"/>
          <p:cNvSpPr/>
          <p:nvPr/>
        </p:nvSpPr>
        <p:spPr>
          <a:xfrm>
            <a:off x="7370064" y="2724912"/>
            <a:ext cx="1207008" cy="201168"/>
          </a:xfrm>
          <a:prstGeom prst="rect">
            <a:avLst/>
          </a:prstGeom>
          <a:solidFill>
            <a:srgbClr val="1E2D56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7370064" y="2724912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7278624" y="3035808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for writing, running and debugging Python.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347472" y="4828032"/>
            <a:ext cx="8458200" cy="201168"/>
          </a:xfrm>
          <a:prstGeom prst="rect">
            <a:avLst/>
          </a:prstGeom>
          <a:solidFill>
            <a:srgbClr val="1E2D56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54864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C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as pd  </a:t>
            </a:r>
            <a:r>
              <a:rPr lang="en-US" sz="950" b="1" dirty="0">
                <a:solidFill>
                  <a:srgbClr val="E8C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matplotlib.pyplot as plt  </a:t>
            </a:r>
            <a:r>
              <a:rPr lang="en-US" sz="950" b="1" dirty="0">
                <a:solidFill>
                  <a:srgbClr val="E8C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 as sns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GENDER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Gender Distribution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02920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417320"/>
            <a:ext cx="3017520" cy="1417320"/>
          </a:xfrm>
          <a:prstGeom prst="rect">
            <a:avLst/>
          </a:prstGeom>
          <a:solidFill>
            <a:srgbClr val="1C2E5E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15087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760720" y="21031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Respondents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2971800"/>
            <a:ext cx="3017520" cy="1417320"/>
          </a:xfrm>
          <a:prstGeom prst="rect">
            <a:avLst/>
          </a:prstGeom>
          <a:solidFill>
            <a:srgbClr val="1C2E5E"/>
          </a:solidFill>
          <a:ln w="19050">
            <a:solidFill>
              <a:srgbClr val="E8C96D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30632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760720" y="3657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Respondents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4526280"/>
            <a:ext cx="3017520" cy="182880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4526280"/>
            <a:ext cx="1883664" cy="182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47365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62.5% Male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178040" y="473659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 Female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4773168"/>
            <a:ext cx="5029200" cy="370332"/>
          </a:xfrm>
          <a:prstGeom prst="rect">
            <a:avLst/>
          </a:prstGeom>
          <a:solidFill>
            <a:srgbClr val="1E2D56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46863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Male participation is higher (62.5%), indicating a gender imbalance in investment activity among young earners.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DESCRIPTIVE STATS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 Profile of Investors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3246120"/>
          </a:xfrm>
          <a:prstGeom prst="rect">
            <a:avLst/>
          </a:prstGeom>
          <a:solidFill>
            <a:srgbClr val="1C2E5E"/>
          </a:solidFill>
          <a:ln w="2540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103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~28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944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age variation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dataset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651760" cy="1508760"/>
          </a:xfrm>
          <a:prstGeom prst="rect">
            <a:avLst/>
          </a:prstGeom>
          <a:solidFill>
            <a:srgbClr val="1C2E5E"/>
          </a:solidFill>
          <a:ln w="1270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572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8470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– 40 yrs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3756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20s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463040"/>
            <a:ext cx="2651760" cy="1508760"/>
          </a:xfrm>
          <a:prstGeom prst="rect">
            <a:avLst/>
          </a:prstGeom>
          <a:solidFill>
            <a:srgbClr val="1C2E5E"/>
          </a:solidFill>
          <a:ln w="12700">
            <a:solidFill>
              <a:srgbClr val="2A3F7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572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8470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group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3108960"/>
            <a:ext cx="2651760" cy="1508760"/>
          </a:xfrm>
          <a:prstGeom prst="rect">
            <a:avLst/>
          </a:prstGeom>
          <a:solidFill>
            <a:srgbClr val="1C2E5E"/>
          </a:solidFill>
          <a:ln w="1270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32186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4930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25–30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37560" y="4069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demographic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3108960"/>
            <a:ext cx="2651760" cy="1508760"/>
          </a:xfrm>
          <a:prstGeom prst="rect">
            <a:avLst/>
          </a:prstGeom>
          <a:solidFill>
            <a:srgbClr val="1C2E5E"/>
          </a:solidFill>
          <a:ln w="12700">
            <a:solidFill>
              <a:srgbClr val="2A3F7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72200" y="32186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Type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34930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Salaried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72200" y="4069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career stage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8412480" cy="365760"/>
          </a:xfrm>
          <a:prstGeom prst="rect">
            <a:avLst/>
          </a:prstGeom>
          <a:solidFill>
            <a:srgbClr val="1E2D56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727448"/>
            <a:ext cx="8229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Investors are primarily early-stage earners (~28 yrs) — a key segment for targeted financial advisory products.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·  INVESTMENT PREFERENCE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Preferred Investment Avenues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0352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30352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80760" y="1417320"/>
            <a:ext cx="2697480" cy="960120"/>
          </a:xfrm>
          <a:prstGeom prst="rect">
            <a:avLst/>
          </a:prstGeom>
          <a:solidFill>
            <a:srgbClr val="1C2E5E"/>
          </a:solidFill>
          <a:ln w="2540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72200" y="1618488"/>
            <a:ext cx="475488" cy="47548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6184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748272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48272" y="1801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Score: 238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748272" y="2093976"/>
            <a:ext cx="1737360" cy="109728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48272" y="2093976"/>
            <a:ext cx="173736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80760" y="2514600"/>
            <a:ext cx="2697480" cy="960120"/>
          </a:xfrm>
          <a:prstGeom prst="rect">
            <a:avLst/>
          </a:prstGeom>
          <a:solidFill>
            <a:srgbClr val="1C2E5E"/>
          </a:solidFill>
          <a:ln w="12700">
            <a:solidFill>
              <a:srgbClr val="E8C96D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2715768"/>
            <a:ext cx="475488" cy="475488"/>
          </a:xfrm>
          <a:prstGeom prst="ellipse">
            <a:avLst/>
          </a:prstGeom>
          <a:solidFill>
            <a:srgbClr val="E8C96D"/>
          </a:solidFill>
          <a:ln w="12700">
            <a:solidFill>
              <a:srgbClr val="E8C96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7157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48272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Debentures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48272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Score: 230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748272" y="3191256"/>
            <a:ext cx="1737360" cy="109728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48272" y="3191256"/>
            <a:ext cx="1678961" cy="109728"/>
          </a:xfrm>
          <a:prstGeom prst="rect">
            <a:avLst/>
          </a:prstGeom>
          <a:solidFill>
            <a:srgbClr val="E8C96D"/>
          </a:solidFill>
          <a:ln w="12700">
            <a:solidFill>
              <a:srgbClr val="E8C96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80760" y="3611880"/>
            <a:ext cx="2697480" cy="960120"/>
          </a:xfrm>
          <a:prstGeom prst="rect">
            <a:avLst/>
          </a:prstGeom>
          <a:solidFill>
            <a:srgbClr val="1C2E5E"/>
          </a:solidFill>
          <a:ln w="12700">
            <a:solidFill>
              <a:srgbClr val="9A783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72200" y="3813048"/>
            <a:ext cx="475488" cy="475488"/>
          </a:xfrm>
          <a:prstGeom prst="ellipse">
            <a:avLst/>
          </a:prstGeom>
          <a:solidFill>
            <a:srgbClr val="9A7830"/>
          </a:solidFill>
          <a:ln w="12700">
            <a:solidFill>
              <a:srgbClr val="9A783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38130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48272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Bonds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748272" y="3995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Score: 186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748272" y="4288536"/>
            <a:ext cx="1737360" cy="109728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48272" y="4288536"/>
            <a:ext cx="1357769" cy="109728"/>
          </a:xfrm>
          <a:prstGeom prst="rect">
            <a:avLst/>
          </a:prstGeom>
          <a:solidFill>
            <a:srgbClr val="9A7830"/>
          </a:solidFill>
          <a:ln w="12700">
            <a:solidFill>
              <a:srgbClr val="9A783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4773168"/>
            <a:ext cx="5303520" cy="370332"/>
          </a:xfrm>
          <a:prstGeom prst="rect">
            <a:avLst/>
          </a:prstGeom>
          <a:solidFill>
            <a:srgbClr val="1E2D56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4800600"/>
            <a:ext cx="51206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Gold leads with a score of 238 — investors prefer safe, tangible and traditional assets over volatile equity.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·  INVESTMENT REASONS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Investors Choose Each Avenue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114800" cy="1536192"/>
          </a:xfrm>
          <a:prstGeom prst="rect">
            <a:avLst/>
          </a:prstGeom>
          <a:solidFill>
            <a:srgbClr val="1C2E5E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642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910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Market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143000" y="1901952"/>
            <a:ext cx="2011680" cy="219456"/>
          </a:xfrm>
          <a:prstGeom prst="rect">
            <a:avLst/>
          </a:prstGeom>
          <a:solidFill>
            <a:srgbClr val="2A1F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190195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Appreciation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1792" y="2231136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see equity as a long-term wealth builder despite its high risk.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0600" y="1481328"/>
            <a:ext cx="4114800" cy="1536192"/>
          </a:xfrm>
          <a:prstGeom prst="rect">
            <a:avLst/>
          </a:prstGeom>
          <a:solidFill>
            <a:srgbClr val="1C2E5E"/>
          </a:solidFill>
          <a:ln w="19050">
            <a:solidFill>
              <a:srgbClr val="E8C96D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66420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5910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0" y="1901952"/>
            <a:ext cx="2011680" cy="219456"/>
          </a:xfrm>
          <a:prstGeom prst="rect">
            <a:avLst/>
          </a:prstGeom>
          <a:solidFill>
            <a:srgbClr val="2A1F00"/>
          </a:solidFill>
          <a:ln w="12700">
            <a:solidFill>
              <a:srgbClr val="E8C96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0" y="190195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Returns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65192" y="2231136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diversification and professionally managed higher yields.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3172968"/>
            <a:ext cx="4114800" cy="1536192"/>
          </a:xfrm>
          <a:prstGeom prst="rect">
            <a:avLst/>
          </a:prstGeom>
          <a:solidFill>
            <a:srgbClr val="1C2E5E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35584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2826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1143000" y="3593592"/>
            <a:ext cx="2011680" cy="219456"/>
          </a:xfrm>
          <a:prstGeom prst="rect">
            <a:avLst/>
          </a:prstGeom>
          <a:solidFill>
            <a:srgbClr val="2A1F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143000" y="35935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Assured Returns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21792" y="3922776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provide fixed income and capital safety, ideal for risk-averse investors.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800600" y="3172968"/>
            <a:ext cx="4114800" cy="1536192"/>
          </a:xfrm>
          <a:prstGeom prst="rect">
            <a:avLst/>
          </a:prstGeom>
          <a:solidFill>
            <a:srgbClr val="1C2E5E"/>
          </a:solidFill>
          <a:ln w="19050">
            <a:solidFill>
              <a:srgbClr val="E8C96D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355848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2826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Deposit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86400" y="3593592"/>
            <a:ext cx="2011680" cy="219456"/>
          </a:xfrm>
          <a:prstGeom prst="rect">
            <a:avLst/>
          </a:prstGeom>
          <a:solidFill>
            <a:srgbClr val="2A1F00"/>
          </a:solidFill>
          <a:ln w="12700">
            <a:solidFill>
              <a:srgbClr val="E8C96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486400" y="35935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965192" y="3922776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returns make FDs the safest and most predictable instrument.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57200" y="4773168"/>
            <a:ext cx="8412480" cy="370332"/>
          </a:xfrm>
          <a:prstGeom prst="rect">
            <a:avLst/>
          </a:prstGeom>
          <a:solidFill>
            <a:srgbClr val="1E2D56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94360" y="4690872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Investment choice is driven by risk mindset — risk-takers prefer equity, while conservative investors choose FDs and bonds.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 ·  SAVINGS 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Investors Saving For?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937760" cy="960120"/>
          </a:xfrm>
          <a:prstGeom prst="rect">
            <a:avLst/>
          </a:prstGeom>
          <a:solidFill>
            <a:srgbClr val="1C2E5E"/>
          </a:solidFill>
          <a:ln w="2540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82496"/>
            <a:ext cx="530352" cy="5303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824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572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07008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respondents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737360"/>
            <a:ext cx="2103120" cy="182880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737360"/>
            <a:ext cx="1261872" cy="182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82496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4937760" cy="960120"/>
          </a:xfrm>
          <a:prstGeom prst="rect">
            <a:avLst/>
          </a:prstGeom>
          <a:solidFill>
            <a:srgbClr val="1C2E5E"/>
          </a:solidFill>
          <a:ln w="12700">
            <a:solidFill>
              <a:srgbClr val="E8C96D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779776"/>
            <a:ext cx="530352" cy="530352"/>
          </a:xfrm>
          <a:prstGeom prst="ellipse">
            <a:avLst/>
          </a:prstGeom>
          <a:solidFill>
            <a:srgbClr val="E8C96D"/>
          </a:solidFill>
          <a:ln w="12700">
            <a:solidFill>
              <a:srgbClr val="E8C9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797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7008" y="26700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respondents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2834640"/>
            <a:ext cx="2103120" cy="182880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2834640"/>
            <a:ext cx="683514" cy="182880"/>
          </a:xfrm>
          <a:prstGeom prst="rect">
            <a:avLst/>
          </a:prstGeom>
          <a:solidFill>
            <a:srgbClr val="E8C96D"/>
          </a:solidFill>
          <a:ln w="12700">
            <a:solidFill>
              <a:srgbClr val="E8C9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42816" y="2779776"/>
            <a:ext cx="1062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32.5%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4937760" cy="960120"/>
          </a:xfrm>
          <a:prstGeom prst="rect">
            <a:avLst/>
          </a:prstGeom>
          <a:solidFill>
            <a:srgbClr val="1C2E5E"/>
          </a:solidFill>
          <a:ln w="12700">
            <a:solidFill>
              <a:srgbClr val="9A783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877056"/>
            <a:ext cx="530352" cy="530352"/>
          </a:xfrm>
          <a:prstGeom prst="ellipse">
            <a:avLst/>
          </a:prstGeom>
          <a:solidFill>
            <a:srgbClr val="9A7830"/>
          </a:solidFill>
          <a:ln w="12700">
            <a:solidFill>
              <a:srgbClr val="9A7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770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7008" y="3767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07008" y="4078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respondents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3931920"/>
            <a:ext cx="2103120" cy="182880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3931920"/>
            <a:ext cx="157734" cy="182880"/>
          </a:xfrm>
          <a:prstGeom prst="rect">
            <a:avLst/>
          </a:prstGeom>
          <a:solidFill>
            <a:srgbClr val="9A7830"/>
          </a:solidFill>
          <a:ln w="12700">
            <a:solidFill>
              <a:srgbClr val="9A7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330" y="3877056"/>
            <a:ext cx="6404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A7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7.5%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69280" y="1481328"/>
            <a:ext cx="3063240" cy="3291840"/>
          </a:xfrm>
          <a:prstGeom prst="rect">
            <a:avLst/>
          </a:prstGeom>
          <a:solidFill>
            <a:srgbClr val="1C2E5E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0" y="162763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196596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943600" y="3291840"/>
            <a:ext cx="25146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3401568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alone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60%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responses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773168"/>
            <a:ext cx="8412480" cy="370332"/>
          </a:xfrm>
          <a:prstGeom prst="rect">
            <a:avLst/>
          </a:prstGeom>
          <a:solidFill>
            <a:srgbClr val="1E2D56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727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Retirement savings dominate at 60% — investors are focused on long-term security, not short-term gains.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 ·  INFORMATION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Investors Get Their Info?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1993392" cy="3108960"/>
          </a:xfrm>
          <a:prstGeom prst="rect">
            <a:avLst/>
          </a:prstGeom>
          <a:solidFill>
            <a:srgbClr val="1C2E5E"/>
          </a:solidFill>
          <a:ln w="2540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81328"/>
            <a:ext cx="199339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7276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9848" y="1901952"/>
            <a:ext cx="685800" cy="6858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947672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67004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324612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level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60120" y="3474720"/>
            <a:ext cx="868680" cy="914400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0120" y="3520440"/>
            <a:ext cx="868680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4366260"/>
            <a:ext cx="1993392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60320" y="1481328"/>
            <a:ext cx="1993392" cy="3108960"/>
          </a:xfrm>
          <a:prstGeom prst="rect">
            <a:avLst/>
          </a:prstGeom>
          <a:solidFill>
            <a:srgbClr val="1C2E5E"/>
          </a:solidFill>
          <a:ln w="12700">
            <a:solidFill>
              <a:srgbClr val="E8C96D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0" y="1481328"/>
            <a:ext cx="1993392" cy="54864"/>
          </a:xfrm>
          <a:prstGeom prst="rect">
            <a:avLst/>
          </a:prstGeom>
          <a:solidFill>
            <a:srgbClr val="E8C96D"/>
          </a:solidFill>
          <a:ln w="12700">
            <a:solidFill>
              <a:srgbClr val="E8C96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60320" y="157276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18688" y="1901952"/>
            <a:ext cx="685800" cy="685800"/>
          </a:xfrm>
          <a:prstGeom prst="ellipse">
            <a:avLst/>
          </a:prstGeom>
          <a:solidFill>
            <a:srgbClr val="E8C96D"/>
          </a:solidFill>
          <a:ln w="12700">
            <a:solidFill>
              <a:srgbClr val="E8C96D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947672"/>
            <a:ext cx="594360" cy="5943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60320" y="267004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Media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560320" y="324612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level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108960" y="3474720"/>
            <a:ext cx="868680" cy="914400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122676" y="3694176"/>
            <a:ext cx="868680" cy="640080"/>
          </a:xfrm>
          <a:prstGeom prst="rect">
            <a:avLst/>
          </a:prstGeom>
          <a:solidFill>
            <a:srgbClr val="E8C96D"/>
          </a:solidFill>
          <a:ln w="12700">
            <a:solidFill>
              <a:srgbClr val="E8C96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560320" y="438912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09160" y="1481328"/>
            <a:ext cx="1993392" cy="3108960"/>
          </a:xfrm>
          <a:prstGeom prst="rect">
            <a:avLst/>
          </a:prstGeom>
          <a:solidFill>
            <a:srgbClr val="1C2E5E"/>
          </a:solidFill>
          <a:ln w="12700">
            <a:solidFill>
              <a:srgbClr val="9A783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709160" y="1481328"/>
            <a:ext cx="1993392" cy="54864"/>
          </a:xfrm>
          <a:prstGeom prst="rect">
            <a:avLst/>
          </a:prstGeom>
          <a:solidFill>
            <a:srgbClr val="9A7830"/>
          </a:solidFill>
          <a:ln w="12700">
            <a:solidFill>
              <a:srgbClr val="9A783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09160" y="157276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367528" y="1901952"/>
            <a:ext cx="685800" cy="685800"/>
          </a:xfrm>
          <a:prstGeom prst="ellipse">
            <a:avLst/>
          </a:prstGeom>
          <a:solidFill>
            <a:srgbClr val="9A7830"/>
          </a:solidFill>
          <a:ln w="12700">
            <a:solidFill>
              <a:srgbClr val="9A7830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947672"/>
            <a:ext cx="594360" cy="5943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709160" y="267004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4709160" y="324612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level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257800" y="3474720"/>
            <a:ext cx="868680" cy="914400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257800" y="3886200"/>
            <a:ext cx="868680" cy="502920"/>
          </a:xfrm>
          <a:prstGeom prst="rect">
            <a:avLst/>
          </a:prstGeom>
          <a:solidFill>
            <a:srgbClr val="9A7830"/>
          </a:solidFill>
          <a:ln w="12700">
            <a:solidFill>
              <a:srgbClr val="9A783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709160" y="4366260"/>
            <a:ext cx="1993392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858000" y="1481328"/>
            <a:ext cx="1993392" cy="3108960"/>
          </a:xfrm>
          <a:prstGeom prst="rect">
            <a:avLst/>
          </a:prstGeom>
          <a:solidFill>
            <a:srgbClr val="1C2E5E"/>
          </a:solidFill>
          <a:ln w="12700">
            <a:solidFill>
              <a:srgbClr val="9AA0B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858000" y="1481328"/>
            <a:ext cx="1993392" cy="54864"/>
          </a:xfrm>
          <a:prstGeom prst="rect">
            <a:avLst/>
          </a:prstGeom>
          <a:solidFill>
            <a:srgbClr val="9AA0B0"/>
          </a:solidFill>
          <a:ln w="12700">
            <a:solidFill>
              <a:srgbClr val="9AA0B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858000" y="157276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7516368" y="1901952"/>
            <a:ext cx="685800" cy="685800"/>
          </a:xfrm>
          <a:prstGeom prst="ellipse">
            <a:avLst/>
          </a:prstGeom>
          <a:solidFill>
            <a:srgbClr val="9AA0B0"/>
          </a:solidFill>
          <a:ln w="12700">
            <a:solidFill>
              <a:srgbClr val="9AA0B0"/>
            </a:solidFill>
            <a:prstDash val="solid"/>
          </a:ln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947672"/>
            <a:ext cx="594360" cy="59436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858000" y="267004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6858000" y="324612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level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7406640" y="3474720"/>
            <a:ext cx="868680" cy="914400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7406640" y="4114800"/>
            <a:ext cx="868680" cy="274320"/>
          </a:xfrm>
          <a:prstGeom prst="rect">
            <a:avLst/>
          </a:prstGeom>
          <a:solidFill>
            <a:srgbClr val="9AA0B0"/>
          </a:solidFill>
          <a:ln w="12700">
            <a:solidFill>
              <a:srgbClr val="9AA0B0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858000" y="4334256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457200" y="4718304"/>
            <a:ext cx="8412480" cy="425196"/>
          </a:xfrm>
          <a:prstGeom prst="rect">
            <a:avLst/>
          </a:prstGeom>
          <a:solidFill>
            <a:srgbClr val="1E2D56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594360" y="471830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Investors trust financial consultants most (95%) and internet sources least — digital advisory has a massive growth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 ·  INVESTMENT DURATION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Long Do Investors Commit?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743200" cy="3108960"/>
          </a:xfrm>
          <a:prstGeom prst="rect">
            <a:avLst/>
          </a:prstGeom>
          <a:solidFill>
            <a:srgbClr val="1C2E5E"/>
          </a:solidFill>
          <a:ln w="2540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116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30358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Average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4015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4813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Year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572768"/>
            <a:ext cx="4206240" cy="256032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572768"/>
            <a:ext cx="365760" cy="256032"/>
          </a:xfrm>
          <a:prstGeom prst="rect">
            <a:avLst/>
          </a:prstGeom>
          <a:solidFill>
            <a:srgbClr val="2A3F70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1609" y="1481327"/>
            <a:ext cx="785191" cy="446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847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2258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Years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2350008"/>
            <a:ext cx="4251960" cy="256032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350008"/>
            <a:ext cx="192024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9904" y="2258568"/>
            <a:ext cx="506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6243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30358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3127248"/>
            <a:ext cx="4251960" cy="256032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3127248"/>
            <a:ext cx="1737360" cy="256032"/>
          </a:xfrm>
          <a:prstGeom prst="rect">
            <a:avLst/>
          </a:prstGeom>
          <a:solidFill>
            <a:srgbClr val="2A3F70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62461" y="3035808"/>
            <a:ext cx="9243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401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0" y="3813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 Years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3904488"/>
            <a:ext cx="4251960" cy="256032"/>
          </a:xfrm>
          <a:prstGeom prst="rect">
            <a:avLst/>
          </a:prstGeom>
          <a:solidFill>
            <a:srgbClr val="1E2D56"/>
          </a:solidFill>
          <a:ln w="12700">
            <a:solidFill>
              <a:srgbClr val="1E2D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3904488"/>
            <a:ext cx="548640" cy="256032"/>
          </a:xfrm>
          <a:prstGeom prst="rect">
            <a:avLst/>
          </a:prstGeom>
          <a:solidFill>
            <a:srgbClr val="2A3F70"/>
          </a:solidFill>
          <a:ln w="12700">
            <a:solidFill>
              <a:srgbClr val="2A3F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33861" y="3813048"/>
            <a:ext cx="11529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41788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700016"/>
            <a:ext cx="8412480" cy="420624"/>
          </a:xfrm>
          <a:prstGeom prst="rect">
            <a:avLst/>
          </a:prstGeom>
          <a:solidFill>
            <a:srgbClr val="1E2D56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70001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80% of investors prefer 1–5 year horizons — medium-term planning dominates, aligned with salary-cycle financial thinking.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 ·  RETURN EXPECTATIONS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Returns Do Investors Expect?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3931920" cy="3108960"/>
          </a:xfrm>
          <a:prstGeom prst="rect">
            <a:avLst/>
          </a:prstGeom>
          <a:solidFill>
            <a:srgbClr val="1C2E5E"/>
          </a:solidFill>
          <a:ln w="2540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276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Returns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respondents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20–30% returns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81328"/>
            <a:ext cx="4069080" cy="3108960"/>
          </a:xfrm>
          <a:prstGeom prst="rect">
            <a:avLst/>
          </a:prstGeom>
          <a:solidFill>
            <a:srgbClr val="1C0A0A"/>
          </a:solidFill>
          <a:ln w="25400">
            <a:solidFill>
              <a:srgbClr val="CC3333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6459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E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REALITY CHECK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02996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578608"/>
            <a:ext cx="3657600" cy="347472"/>
          </a:xfrm>
          <a:prstGeom prst="rect">
            <a:avLst/>
          </a:prstGeom>
          <a:solidFill>
            <a:srgbClr val="290000"/>
          </a:solidFill>
          <a:ln w="12700">
            <a:solidFill>
              <a:srgbClr val="88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5786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→  6–8% avg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017520"/>
            <a:ext cx="3657600" cy="347472"/>
          </a:xfrm>
          <a:prstGeom prst="rect">
            <a:avLst/>
          </a:prstGeom>
          <a:solidFill>
            <a:srgbClr val="290000"/>
          </a:solidFill>
          <a:ln w="12700">
            <a:solidFill>
              <a:srgbClr val="88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0175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 →  7–9% avg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456432"/>
            <a:ext cx="3657600" cy="347472"/>
          </a:xfrm>
          <a:prstGeom prst="rect">
            <a:avLst/>
          </a:prstGeom>
          <a:solidFill>
            <a:srgbClr val="290000"/>
          </a:solidFill>
          <a:ln w="12700">
            <a:solidFill>
              <a:srgbClr val="88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4564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 →  5–7% avg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91363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Gap: ~15–20% shortfall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42519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vs Reality Mismatch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700016"/>
            <a:ext cx="8275320" cy="402336"/>
          </a:xfrm>
          <a:prstGeom prst="rect">
            <a:avLst/>
          </a:prstGeom>
          <a:solidFill>
            <a:srgbClr val="1E2D56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700016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High return expectations (20–30%) vs low-risk investment choices (Gold/FD/Bonds ~7%) reveals a critical financial literacy gap.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10  ·  CORRELATION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Matrix — Behavioral Patterns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12064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12064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1417320"/>
            <a:ext cx="2926080" cy="713232"/>
          </a:xfrm>
          <a:prstGeom prst="rect">
            <a:avLst/>
          </a:prstGeom>
          <a:solidFill>
            <a:srgbClr val="1C2E5E"/>
          </a:solidFill>
          <a:ln w="1270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417320"/>
            <a:ext cx="54864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16752" y="14721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↔ Duration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73568" y="1490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+0.47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16752" y="18196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horizon → more equity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0" y="2240280"/>
            <a:ext cx="2926080" cy="713232"/>
          </a:xfrm>
          <a:prstGeom prst="rect">
            <a:avLst/>
          </a:prstGeom>
          <a:solidFill>
            <a:srgbClr val="1C2E5E"/>
          </a:solidFill>
          <a:ln w="12700">
            <a:solidFill>
              <a:srgbClr val="EE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52160" y="2240280"/>
            <a:ext cx="54864" cy="713232"/>
          </a:xfrm>
          <a:prstGeom prst="rect">
            <a:avLst/>
          </a:prstGeom>
          <a:solidFill>
            <a:srgbClr val="EE4444"/>
          </a:solidFill>
          <a:ln w="12700">
            <a:solidFill>
              <a:srgbClr val="EE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16752" y="22951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↔ Mutual Funds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73568" y="23134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E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−0.40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16752" y="26426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safe-haven choices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52160" y="3063240"/>
            <a:ext cx="2926080" cy="713232"/>
          </a:xfrm>
          <a:prstGeom prst="rect">
            <a:avLst/>
          </a:prstGeom>
          <a:solidFill>
            <a:srgbClr val="1C2E5E"/>
          </a:solidFill>
          <a:ln w="1270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3063240"/>
            <a:ext cx="54864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16752" y="31181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Debentures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73568" y="3136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+0.33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016752" y="34655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investors → more stable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852160" y="3886200"/>
            <a:ext cx="2926080" cy="713232"/>
          </a:xfrm>
          <a:prstGeom prst="rect">
            <a:avLst/>
          </a:prstGeom>
          <a:solidFill>
            <a:srgbClr val="1C2E5E"/>
          </a:solidFill>
          <a:ln w="12700">
            <a:solidFill>
              <a:srgbClr val="EE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52160" y="3886200"/>
            <a:ext cx="54864" cy="713232"/>
          </a:xfrm>
          <a:prstGeom prst="rect">
            <a:avLst/>
          </a:prstGeom>
          <a:solidFill>
            <a:srgbClr val="EE4444"/>
          </a:solidFill>
          <a:ln w="12700">
            <a:solidFill>
              <a:srgbClr val="EE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16752" y="39410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↔ Bonds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973568" y="39593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E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−0.53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016752" y="42885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 not complements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57200" y="4663440"/>
            <a:ext cx="5120640" cy="475488"/>
          </a:xfrm>
          <a:prstGeom prst="rect">
            <a:avLst/>
          </a:prstGeom>
          <a:solidFill>
            <a:srgbClr val="1E2D56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" y="4663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Correlation patterns show that age, risk profile, and investment horizon together shape which assets investors choose.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 ·  KEY INSIGHTS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Reveals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87368" cy="1536192"/>
          </a:xfrm>
          <a:prstGeom prst="rect">
            <a:avLst/>
          </a:prstGeom>
          <a:solidFill>
            <a:srgbClr val="1C2E5E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664208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6093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Risk-Averse Investors Dominate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139696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Gold, Bonds and FDs dominate preferences — over 60% of choices are in low-risk categories, confirming conservative mindsets.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73168" y="1481328"/>
            <a:ext cx="4087368" cy="1536192"/>
          </a:xfrm>
          <a:prstGeom prst="rect">
            <a:avLst/>
          </a:prstGeom>
          <a:solidFill>
            <a:srgbClr val="1C2E5E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664208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22976" y="16093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Return Expectations Exist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139696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investors expect 20–30% returns despite choosing assets that historically deliver only 5–9% annually.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72968"/>
            <a:ext cx="4087368" cy="1536192"/>
          </a:xfrm>
          <a:prstGeom prst="rect">
            <a:avLst/>
          </a:prstGeom>
          <a:solidFill>
            <a:srgbClr val="1C2E5E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3355848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7008" y="33009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Investments Preferred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3831336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ranks #1 in preferences. Digital or equity-based instruments have low adoption among survey participants.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73168" y="3172968"/>
            <a:ext cx="4087368" cy="1536192"/>
          </a:xfrm>
          <a:prstGeom prst="rect">
            <a:avLst/>
          </a:prstGeom>
          <a:solidFill>
            <a:srgbClr val="1C2E5E"/>
          </a:solidFill>
          <a:ln w="190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355848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22976" y="33009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Advice is Most Trusted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831336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consultants are the primary information source, with internet and digital platforms being the least trusted.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132147"/>
          </a:solidFill>
          <a:ln w="12700">
            <a:solidFill>
              <a:srgbClr val="1321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3657600"/>
            <a:ext cx="2286000" cy="2286000"/>
          </a:xfrm>
          <a:prstGeom prst="ellipse">
            <a:avLst/>
          </a:prstGeom>
          <a:solidFill>
            <a:srgbClr val="1C2E5E"/>
          </a:solidFill>
          <a:ln w="12700">
            <a:solidFill>
              <a:srgbClr val="1C2E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You!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6334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27248"/>
            <a:ext cx="384048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2724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Yashwanth M  ·  Statistics &amp; Mathematics  ·  2024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Cognifyz Technologies  ·  Business Analytics Internship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4114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0760" y="65836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44768" y="1078992"/>
            <a:ext cx="27432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132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12471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44768" y="15819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Respondents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4768" y="2011680"/>
            <a:ext cx="27432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132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0574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44768" y="25146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4768" y="2944368"/>
            <a:ext cx="27432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1321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9900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44768" y="34472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Charts Built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44768" y="3877056"/>
            <a:ext cx="27432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1321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392277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144768" y="437997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Types Analyzed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968</Words>
  <Application>Microsoft Office PowerPoint</Application>
  <PresentationFormat>On-screen Show (16:9)</PresentationFormat>
  <Paragraphs>263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Behavior Analysis — Yashwanth M</dc:title>
  <dc:subject>PptxGenJS Presentation</dc:subject>
  <dc:creator>PptxGenJS</dc:creator>
  <cp:lastModifiedBy>Yashwanth M</cp:lastModifiedBy>
  <cp:revision>2</cp:revision>
  <dcterms:created xsi:type="dcterms:W3CDTF">2026-05-01T08:11:16Z</dcterms:created>
  <dcterms:modified xsi:type="dcterms:W3CDTF">2026-05-01T04:15:38Z</dcterms:modified>
</cp:coreProperties>
</file>